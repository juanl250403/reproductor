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8" autoAdjust="0"/>
    <p:restoredTop sz="94660"/>
  </p:normalViewPr>
  <p:slideViewPr>
    <p:cSldViewPr>
      <p:cViewPr varScale="1">
        <p:scale>
          <a:sx n="90" d="100"/>
          <a:sy n="90" d="100"/>
        </p:scale>
        <p:origin x="56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28" d="100"/>
          <a:sy n="28" d="100"/>
        </p:scale>
        <p:origin x="-126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529C2-0941-45B3-B7C5-40CA4A9DDDA5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2401249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2DBC-BD8A-4F80-BA19-35BF64524A7D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8420024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624E3-84E1-4845-AC1D-22E19BB4CC68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32457638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2E87D-D69C-47A5-B49B-7D0E994864DB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579957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A1A3F-BA7B-492F-B110-A2350C57837B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639677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047A0-8441-4AC6-9DFB-B0197849D063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057398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BB1CA-7101-48B8-B369-6E86CD20E2F1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505438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FE985-856B-415F-B8BD-D1CD9660F415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4820508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FB2DA-3954-4231-A5F7-77CEA9B7B062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2944219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203582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3991476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2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530689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3368765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1619894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F6C64-EF4C-4487-B3CF-9ED6F2B0BB8F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41186731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F86A3-7FBC-4D11-B6CB-9FE6873CFAD6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2992434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97F8C-3D44-4A62-8AB8-B6C68B731EE4}" type="slidenum">
              <a:rPr lang="en-US" altLang="es-SV" smtClean="0"/>
              <a:pPr/>
              <a:t>‹Nº›</a:t>
            </a:fld>
            <a:endParaRPr lang="en-US" altLang="es-SV"/>
          </a:p>
        </p:txBody>
      </p:sp>
    </p:spTree>
    <p:extLst>
      <p:ext uri="{BB962C8B-B14F-4D97-AF65-F5344CB8AC3E}">
        <p14:creationId xmlns:p14="http://schemas.microsoft.com/office/powerpoint/2010/main" val="996595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764704"/>
            <a:ext cx="7772400" cy="1143000"/>
          </a:xfrm>
        </p:spPr>
        <p:txBody>
          <a:bodyPr/>
          <a:lstStyle/>
          <a:p>
            <a:r>
              <a:rPr lang="es-SV" sz="3200" dirty="0" smtClean="0"/>
              <a:t>USO CORRECTO DE LETRAS MAYÚSCULAS Y MINÚSCULAS</a:t>
            </a:r>
            <a:endParaRPr lang="es-SV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40981" y="4452561"/>
            <a:ext cx="7516688" cy="1752600"/>
          </a:xfrm>
        </p:spPr>
        <p:txBody>
          <a:bodyPr>
            <a:normAutofit fontScale="92500" lnSpcReduction="10000"/>
          </a:bodyPr>
          <a:lstStyle/>
          <a:p>
            <a:r>
              <a:rPr lang="es-SV" sz="2000" dirty="0" smtClean="0"/>
              <a:t>Semana 8, Unidad 2</a:t>
            </a:r>
          </a:p>
          <a:p>
            <a:r>
              <a:rPr lang="es-SV" sz="2000" dirty="0" smtClean="0"/>
              <a:t>Docente: Lcda. Mercedes Seeligman MGDTH.</a:t>
            </a:r>
          </a:p>
          <a:p>
            <a:r>
              <a:rPr lang="es-SV" sz="2000" dirty="0" smtClean="0"/>
              <a:t>Cátedra: comunicación Oral y Escrita en Español / </a:t>
            </a:r>
          </a:p>
          <a:p>
            <a:r>
              <a:rPr lang="es-SV" sz="2000" dirty="0" smtClean="0"/>
              <a:t>Redacción y Ortografía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420888"/>
            <a:ext cx="2334970" cy="154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9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548680"/>
            <a:ext cx="8424936" cy="1647056"/>
          </a:xfrm>
        </p:spPr>
        <p:txBody>
          <a:bodyPr>
            <a:normAutofit/>
          </a:bodyPr>
          <a:lstStyle/>
          <a:p>
            <a:r>
              <a:rPr lang="es-SV" sz="1800" cap="none" dirty="0">
                <a:effectLst/>
              </a:rPr>
              <a:t>L</a:t>
            </a:r>
            <a:r>
              <a:rPr lang="es-SV" sz="1800" cap="none" dirty="0" smtClean="0">
                <a:effectLst/>
              </a:rPr>
              <a:t>as reglas para el uso de letras mayúsculas y minúsculas son fundamentales en la escritura académica y profesional. a continuación, se presentan las pautas básicas:</a:t>
            </a:r>
            <a:r>
              <a:rPr lang="es-SV" dirty="0">
                <a:effectLst/>
              </a:rPr>
              <a:t/>
            </a:r>
            <a:br>
              <a:rPr lang="es-SV" dirty="0">
                <a:effectLst/>
              </a:rPr>
            </a:br>
            <a:endParaRPr lang="es-SV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1560" y="1981200"/>
            <a:ext cx="7992888" cy="4114800"/>
          </a:xfrm>
        </p:spPr>
        <p:txBody>
          <a:bodyPr>
            <a:normAutofit fontScale="85000" lnSpcReduction="10000"/>
          </a:bodyPr>
          <a:lstStyle/>
          <a:p>
            <a:r>
              <a:rPr lang="es-SV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1. Inicio de Oraciones: Todas las oraciones deben comenzar con una letra mayúscula.</a:t>
            </a:r>
          </a:p>
          <a:p>
            <a:endParaRPr lang="es-SV" sz="2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s-SV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2. Nombres Propios: Los nombres de personas, lugares, instituciones y marcas se escriben con mayúscula inicial. Por ejemplo: "Juan Pérez", "Universidad de Harvard", "Coca-Cola".</a:t>
            </a:r>
          </a:p>
          <a:p>
            <a:endParaRPr lang="es-SV" sz="2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s-SV" sz="2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3. Títulos: Los títulos de libros, películas, obras de arte, entre otros, también comienzan con mayúscula. Ejemplo: "El Quijote", "La Mona Lisa".</a:t>
            </a:r>
          </a:p>
          <a:p>
            <a:endParaRPr lang="es-SV" dirty="0" smtClean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736307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404664"/>
            <a:ext cx="7772400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SV" sz="2400" dirty="0">
                <a:effectLst/>
              </a:rPr>
              <a:t> </a:t>
            </a:r>
          </a:p>
          <a:p>
            <a:r>
              <a:rPr lang="es-SV" sz="2400" dirty="0">
                <a:effectLst/>
              </a:rPr>
              <a:t>4. </a:t>
            </a:r>
            <a:r>
              <a:rPr lang="es-SV" sz="2400" dirty="0" smtClean="0">
                <a:effectLst/>
              </a:rPr>
              <a:t>Títulos </a:t>
            </a:r>
            <a:r>
              <a:rPr lang="es-SV" sz="2400" dirty="0">
                <a:effectLst/>
              </a:rPr>
              <a:t>de Trabajos </a:t>
            </a:r>
            <a:r>
              <a:rPr lang="es-SV" sz="2400" dirty="0" smtClean="0">
                <a:effectLst/>
              </a:rPr>
              <a:t>Académicos: </a:t>
            </a:r>
            <a:r>
              <a:rPr lang="es-SV" sz="2400" dirty="0">
                <a:effectLst/>
              </a:rPr>
              <a:t>Al escribir tesis, ensayos o informes, el título debe estar capitalizado correctamente según el estilo de escritura utilizado (APA, MLA, Chicago, etc.).</a:t>
            </a:r>
          </a:p>
          <a:p>
            <a:pPr marL="0" indent="0">
              <a:buNone/>
            </a:pPr>
            <a:endParaRPr lang="es-SV" sz="2400" dirty="0">
              <a:effectLst/>
            </a:endParaRPr>
          </a:p>
          <a:p>
            <a:r>
              <a:rPr lang="es-SV" sz="2400" dirty="0">
                <a:effectLst/>
              </a:rPr>
              <a:t>5. </a:t>
            </a:r>
            <a:r>
              <a:rPr lang="es-SV" sz="2400" dirty="0" smtClean="0">
                <a:effectLst/>
              </a:rPr>
              <a:t>Nombres Geográficos: </a:t>
            </a:r>
            <a:r>
              <a:rPr lang="es-SV" sz="2400" dirty="0">
                <a:effectLst/>
              </a:rPr>
              <a:t>Los nombres de continentes, países, ciudades, ríos, montañas y otros elementos geográficos se escriben con mayúscula. Por ejemplo: "América del Sur", "España", "Río Amazonas".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77702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404664"/>
            <a:ext cx="8134672" cy="5691336"/>
          </a:xfrm>
        </p:spPr>
        <p:txBody>
          <a:bodyPr>
            <a:normAutofit fontScale="70000" lnSpcReduction="20000"/>
          </a:bodyPr>
          <a:lstStyle/>
          <a:p>
            <a:r>
              <a:rPr lang="es-SV" sz="2400" dirty="0">
                <a:effectLst/>
              </a:rPr>
              <a:t>6. </a:t>
            </a:r>
            <a:r>
              <a:rPr lang="es-SV" sz="2400" dirty="0" smtClean="0">
                <a:effectLst/>
              </a:rPr>
              <a:t>Fechas </a:t>
            </a:r>
            <a:r>
              <a:rPr lang="es-SV" sz="2400" dirty="0">
                <a:effectLst/>
              </a:rPr>
              <a:t>y Días de la </a:t>
            </a:r>
            <a:r>
              <a:rPr lang="es-SV" sz="2400" dirty="0" smtClean="0">
                <a:effectLst/>
              </a:rPr>
              <a:t>Semana: </a:t>
            </a:r>
            <a:r>
              <a:rPr lang="es-SV" sz="2400" dirty="0">
                <a:effectLst/>
              </a:rPr>
              <a:t>Los nombres de los días de la semana y los meses del año comienzan con </a:t>
            </a:r>
            <a:r>
              <a:rPr lang="es-SV" sz="2400" dirty="0" smtClean="0">
                <a:effectLst/>
              </a:rPr>
              <a:t>mayúscula, siempre que vayan al inicio. </a:t>
            </a:r>
            <a:r>
              <a:rPr lang="es-SV" sz="2400" dirty="0">
                <a:effectLst/>
              </a:rPr>
              <a:t>Ejemplo: "</a:t>
            </a:r>
            <a:r>
              <a:rPr lang="es-SV" sz="2400" dirty="0" smtClean="0">
                <a:effectLst/>
              </a:rPr>
              <a:t>Lunes 4 de marzo de 2025 ", </a:t>
            </a:r>
            <a:r>
              <a:rPr lang="es-SV" sz="2400" dirty="0">
                <a:effectLst/>
              </a:rPr>
              <a:t>"</a:t>
            </a:r>
            <a:r>
              <a:rPr lang="es-SV" sz="2400" dirty="0" smtClean="0">
                <a:effectLst/>
              </a:rPr>
              <a:t>Marzo 04, 2025". Si es al interior de párrafo con minúscula: Ayer me dijiste que volverías el próximo jueves.</a:t>
            </a:r>
            <a:endParaRPr lang="es-SV" sz="2400" dirty="0">
              <a:effectLst/>
            </a:endParaRPr>
          </a:p>
          <a:p>
            <a:pPr marL="0" indent="0">
              <a:buNone/>
            </a:pPr>
            <a:r>
              <a:rPr lang="es-SV" sz="2400" dirty="0">
                <a:effectLst/>
              </a:rPr>
              <a:t> </a:t>
            </a:r>
          </a:p>
          <a:p>
            <a:r>
              <a:rPr lang="es-SV" sz="2400" dirty="0">
                <a:effectLst/>
              </a:rPr>
              <a:t>7. </a:t>
            </a:r>
            <a:r>
              <a:rPr lang="es-SV" sz="2400" dirty="0" smtClean="0">
                <a:effectLst/>
              </a:rPr>
              <a:t>Nombres </a:t>
            </a:r>
            <a:r>
              <a:rPr lang="es-SV" sz="2400" dirty="0">
                <a:effectLst/>
              </a:rPr>
              <a:t>de Idiomas y </a:t>
            </a:r>
            <a:r>
              <a:rPr lang="es-SV" sz="2400" dirty="0" smtClean="0">
                <a:effectLst/>
              </a:rPr>
              <a:t>Nacionalidades: </a:t>
            </a:r>
            <a:r>
              <a:rPr lang="es-SV" sz="2400" dirty="0">
                <a:effectLst/>
              </a:rPr>
              <a:t>Los nombres de idiomas y nacionalidades </a:t>
            </a:r>
            <a:r>
              <a:rPr lang="es-SV" sz="2400" dirty="0" smtClean="0">
                <a:effectLst/>
              </a:rPr>
              <a:t>con minúscula. </a:t>
            </a:r>
            <a:r>
              <a:rPr lang="es-SV" sz="2400" dirty="0">
                <a:effectLst/>
              </a:rPr>
              <a:t>Por ejemplo: </a:t>
            </a:r>
            <a:r>
              <a:rPr lang="es-SV" sz="2400" dirty="0" smtClean="0">
                <a:effectLst/>
              </a:rPr>
              <a:t>español, colombiano, etc. por ser nombres comunes. Si es el nombre de algo o alguien se escribe con mayúscula. Ejemplo: Ese barco se llama “El Español”.</a:t>
            </a:r>
            <a:endParaRPr lang="es-SV" sz="2400" dirty="0">
              <a:effectLst/>
            </a:endParaRPr>
          </a:p>
          <a:p>
            <a:pPr marL="0" indent="0">
              <a:buNone/>
            </a:pPr>
            <a:endParaRPr lang="es-SV" sz="2400" dirty="0">
              <a:effectLst/>
            </a:endParaRPr>
          </a:p>
          <a:p>
            <a:r>
              <a:rPr lang="es-SV" sz="2000" dirty="0">
                <a:effectLst/>
              </a:rPr>
              <a:t>8. </a:t>
            </a:r>
            <a:r>
              <a:rPr lang="es-SV" sz="2000" dirty="0" smtClean="0">
                <a:effectLst/>
              </a:rPr>
              <a:t>Títulos </a:t>
            </a:r>
            <a:r>
              <a:rPr lang="es-SV" sz="2000" dirty="0">
                <a:effectLst/>
              </a:rPr>
              <a:t>Honoríficos y </a:t>
            </a:r>
            <a:r>
              <a:rPr lang="es-SV" sz="2000" dirty="0" smtClean="0">
                <a:effectLst/>
              </a:rPr>
              <a:t>Abreviaturas: </a:t>
            </a:r>
            <a:r>
              <a:rPr lang="es-SV" dirty="0"/>
              <a:t>en general, las abreviaturas se escriben con minúsculas o mayúsculas según se escriban las palabras que representan sin abreviar. Por eso se escriben con mayúsculas las iniciales de los nombres de personas y de los tratamientos protocolarios.</a:t>
            </a:r>
          </a:p>
          <a:p>
            <a:r>
              <a:rPr lang="es-SV" dirty="0"/>
              <a:t>J. </a:t>
            </a:r>
            <a:r>
              <a:rPr lang="es-SV" dirty="0" err="1"/>
              <a:t>Martorell</a:t>
            </a:r>
            <a:r>
              <a:rPr lang="es-SV" dirty="0"/>
              <a:t> (</a:t>
            </a:r>
            <a:r>
              <a:rPr lang="es-SV" dirty="0" err="1"/>
              <a:t>Joanot</a:t>
            </a:r>
            <a:r>
              <a:rPr lang="es-SV" dirty="0"/>
              <a:t> </a:t>
            </a:r>
            <a:r>
              <a:rPr lang="es-SV" dirty="0" err="1"/>
              <a:t>Martorell</a:t>
            </a:r>
            <a:r>
              <a:rPr lang="es-SV" dirty="0"/>
              <a:t>)</a:t>
            </a:r>
            <a:br>
              <a:rPr lang="es-SV" dirty="0"/>
            </a:br>
            <a:r>
              <a:rPr lang="es-SV" dirty="0"/>
              <a:t/>
            </a:r>
            <a:br>
              <a:rPr lang="es-SV" dirty="0"/>
            </a:br>
            <a:r>
              <a:rPr lang="es-SV" dirty="0"/>
              <a:t>Excmo. Sr. (Excelentísimo Señor)</a:t>
            </a:r>
          </a:p>
          <a:p>
            <a:r>
              <a:rPr lang="es-SV" sz="2000" dirty="0" smtClean="0">
                <a:effectLst/>
              </a:rPr>
              <a:t>Las </a:t>
            </a:r>
            <a:r>
              <a:rPr lang="es-SV" sz="2000" dirty="0">
                <a:effectLst/>
              </a:rPr>
              <a:t>abreviaturas de títulos académicos, grados o cargos también se escriben con mayúscula. Ejemplo: </a:t>
            </a:r>
            <a:r>
              <a:rPr lang="es-SV" sz="2000" dirty="0" smtClean="0">
                <a:effectLst/>
              </a:rPr>
              <a:t>"PhD.", </a:t>
            </a:r>
            <a:r>
              <a:rPr lang="es-SV" sz="2000" dirty="0">
                <a:effectLst/>
              </a:rPr>
              <a:t>"CEO".</a:t>
            </a:r>
          </a:p>
          <a:p>
            <a:endParaRPr lang="es-SV" sz="2000" dirty="0"/>
          </a:p>
        </p:txBody>
      </p:sp>
    </p:spTree>
    <p:extLst>
      <p:ext uri="{BB962C8B-B14F-4D97-AF65-F5344CB8AC3E}">
        <p14:creationId xmlns:p14="http://schemas.microsoft.com/office/powerpoint/2010/main" val="391016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92696"/>
            <a:ext cx="7772400" cy="5544616"/>
          </a:xfrm>
        </p:spPr>
        <p:txBody>
          <a:bodyPr>
            <a:normAutofit fontScale="92500" lnSpcReduction="20000"/>
          </a:bodyPr>
          <a:lstStyle/>
          <a:p>
            <a:r>
              <a:rPr lang="es-SV" sz="2000" dirty="0">
                <a:effectLst/>
              </a:rPr>
              <a:t>9. </a:t>
            </a:r>
            <a:r>
              <a:rPr lang="es-SV" sz="2000" dirty="0" smtClean="0">
                <a:effectLst/>
              </a:rPr>
              <a:t>Pronombres </a:t>
            </a:r>
            <a:r>
              <a:rPr lang="es-SV" sz="2000" dirty="0">
                <a:effectLst/>
              </a:rPr>
              <a:t>Personales y Palabras al Inicio de Citas </a:t>
            </a:r>
            <a:r>
              <a:rPr lang="es-SV" sz="2000" dirty="0" smtClean="0">
                <a:effectLst/>
              </a:rPr>
              <a:t>Directas: </a:t>
            </a:r>
            <a:r>
              <a:rPr lang="es-SV" sz="2000" dirty="0">
                <a:effectLst/>
              </a:rPr>
              <a:t>Los pronombres personales (Yo, Tú, Él, Ella, Nosotros, etc.) se escriben con mayúscula inicial. Además, la primera palabra de una cita directa se escribe con mayúscula, independientemente de si comienza o no una oración completa.</a:t>
            </a:r>
          </a:p>
          <a:p>
            <a:pPr marL="0" indent="0">
              <a:buNone/>
            </a:pPr>
            <a:endParaRPr lang="es-SV" sz="2000" dirty="0">
              <a:effectLst/>
            </a:endParaRPr>
          </a:p>
          <a:p>
            <a:r>
              <a:rPr lang="es-SV" sz="2000" dirty="0">
                <a:effectLst/>
              </a:rPr>
              <a:t>10. </a:t>
            </a:r>
            <a:r>
              <a:rPr lang="es-SV" sz="2000" dirty="0" smtClean="0">
                <a:effectLst/>
              </a:rPr>
              <a:t>Uso </a:t>
            </a:r>
            <a:r>
              <a:rPr lang="es-SV" sz="2000" dirty="0">
                <a:effectLst/>
              </a:rPr>
              <a:t>de </a:t>
            </a:r>
            <a:r>
              <a:rPr lang="es-SV" dirty="0">
                <a:effectLst/>
              </a:rPr>
              <a:t>m</a:t>
            </a:r>
            <a:r>
              <a:rPr lang="es-SV" sz="2000" dirty="0" smtClean="0">
                <a:effectLst/>
              </a:rPr>
              <a:t>inúsculas: </a:t>
            </a:r>
            <a:r>
              <a:rPr lang="es-SV" sz="2000" dirty="0">
                <a:effectLst/>
              </a:rPr>
              <a:t>Las palabras que no son nombres propios generalmente se escriben con minúscula, a menos que cumplan alguna de las reglas anteriores</a:t>
            </a:r>
            <a:r>
              <a:rPr lang="es-SV" sz="2000" dirty="0" smtClean="0">
                <a:effectLst/>
              </a:rPr>
              <a:t>.</a:t>
            </a:r>
          </a:p>
          <a:p>
            <a:endParaRPr lang="es-SV" sz="2000" dirty="0" smtClean="0">
              <a:effectLst/>
            </a:endParaRPr>
          </a:p>
          <a:p>
            <a:r>
              <a:rPr lang="es-SV" sz="2000" dirty="0">
                <a:effectLst/>
              </a:rPr>
              <a:t>Es fundamental consultar el estilo de escritura específico que se requiere para cada tipo de documento académico o profesional. Por ejemplo, la Asociación Estadounidense de Psicología (APA) y la Modern </a:t>
            </a:r>
            <a:r>
              <a:rPr lang="es-SV" sz="2000" dirty="0" err="1">
                <a:effectLst/>
              </a:rPr>
              <a:t>Language</a:t>
            </a:r>
            <a:r>
              <a:rPr lang="es-SV" sz="2000" dirty="0">
                <a:effectLst/>
              </a:rPr>
              <a:t> </a:t>
            </a:r>
            <a:r>
              <a:rPr lang="es-SV" sz="2000" dirty="0" err="1">
                <a:effectLst/>
              </a:rPr>
              <a:t>Association</a:t>
            </a:r>
            <a:r>
              <a:rPr lang="es-SV" sz="2000" dirty="0">
                <a:effectLst/>
              </a:rPr>
              <a:t> (MLA) tienen pautas específicas sobre el uso de mayúsculas y minúsculas en la redacción académica.</a:t>
            </a:r>
          </a:p>
          <a:p>
            <a:endParaRPr lang="es-SV" sz="2000" dirty="0">
              <a:effectLst/>
            </a:endParaRPr>
          </a:p>
          <a:p>
            <a:endParaRPr lang="es-SV" sz="2000" dirty="0"/>
          </a:p>
        </p:txBody>
      </p:sp>
    </p:spTree>
    <p:extLst>
      <p:ext uri="{BB962C8B-B14F-4D97-AF65-F5344CB8AC3E}">
        <p14:creationId xmlns:p14="http://schemas.microsoft.com/office/powerpoint/2010/main" val="4214910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20688"/>
            <a:ext cx="7772400" cy="5475312"/>
          </a:xfrm>
        </p:spPr>
        <p:txBody>
          <a:bodyPr/>
          <a:lstStyle/>
          <a:p>
            <a:r>
              <a:rPr lang="es-SV" sz="2000" dirty="0">
                <a:effectLst/>
              </a:rPr>
              <a:t>Para obtener más detalles sobre el uso correcto de mayúsculas y minúsculas, se pueden consultar recursos como el Manual de Publicación de la APA (American </a:t>
            </a:r>
            <a:r>
              <a:rPr lang="es-SV" sz="2000" dirty="0" err="1">
                <a:effectLst/>
              </a:rPr>
              <a:t>Psychological</a:t>
            </a:r>
            <a:r>
              <a:rPr lang="es-SV" sz="2000" dirty="0">
                <a:effectLst/>
              </a:rPr>
              <a:t> </a:t>
            </a:r>
            <a:r>
              <a:rPr lang="es-SV" sz="2000" dirty="0" err="1">
                <a:effectLst/>
              </a:rPr>
              <a:t>Association</a:t>
            </a:r>
            <a:r>
              <a:rPr lang="es-SV" sz="2000" dirty="0">
                <a:effectLst/>
              </a:rPr>
              <a:t>), el Manual de Estilo de la MLA (Modern </a:t>
            </a:r>
            <a:r>
              <a:rPr lang="es-SV" sz="2000" dirty="0" err="1">
                <a:effectLst/>
              </a:rPr>
              <a:t>Language</a:t>
            </a:r>
            <a:r>
              <a:rPr lang="es-SV" sz="2000" dirty="0">
                <a:effectLst/>
              </a:rPr>
              <a:t> </a:t>
            </a:r>
            <a:r>
              <a:rPr lang="es-SV" sz="2000" dirty="0" err="1">
                <a:effectLst/>
              </a:rPr>
              <a:t>Association</a:t>
            </a:r>
            <a:r>
              <a:rPr lang="es-SV" sz="2000" dirty="0">
                <a:effectLst/>
              </a:rPr>
              <a:t>) o manuales de estilo específicos según la disciplina académica. Estos recursos proporcionan orientación detallada sobre la aplicación correcta de las reglas de capitalización en la escritura académica.</a:t>
            </a:r>
          </a:p>
          <a:p>
            <a:pPr marL="0" indent="0">
              <a:buNone/>
            </a:pPr>
            <a:r>
              <a:rPr lang="es-SV" dirty="0">
                <a:effectLst/>
              </a:rPr>
              <a:t> </a:t>
            </a:r>
          </a:p>
          <a:p>
            <a:r>
              <a:rPr lang="es-SV" sz="2000" dirty="0">
                <a:effectLst/>
              </a:rPr>
              <a:t>Es importante recordar que el uso adecuado de mayúsculas y minúsculas no solo mejora la claridad y la coherencia de la escritura, sino que también demuestra un nivel de profesionalismo y respeto por las normas de la comunicación escrita.</a:t>
            </a:r>
          </a:p>
          <a:p>
            <a:endParaRPr lang="es-SV" sz="2000" dirty="0"/>
          </a:p>
        </p:txBody>
      </p:sp>
    </p:spTree>
    <p:extLst>
      <p:ext uri="{BB962C8B-B14F-4D97-AF65-F5344CB8AC3E}">
        <p14:creationId xmlns:p14="http://schemas.microsoft.com/office/powerpoint/2010/main" val="76343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131840" y="2852936"/>
            <a:ext cx="6012160" cy="3603104"/>
          </a:xfrm>
        </p:spPr>
        <p:txBody>
          <a:bodyPr numCol="2"/>
          <a:lstStyle/>
          <a:p>
            <a:pPr marL="0" indent="0">
              <a:buNone/>
            </a:pPr>
            <a:r>
              <a:rPr lang="es-SV" sz="1400" b="1" dirty="0" smtClean="0">
                <a:effectLst/>
              </a:rPr>
              <a:t>Bibliografía</a:t>
            </a:r>
          </a:p>
          <a:p>
            <a:pPr marL="0" indent="0">
              <a:buNone/>
            </a:pPr>
            <a:r>
              <a:rPr lang="es-SV" sz="1100" dirty="0" smtClean="0">
                <a:effectLst/>
              </a:rPr>
              <a:t>"Ortografía </a:t>
            </a:r>
            <a:r>
              <a:rPr lang="es-SV" sz="1100" dirty="0">
                <a:effectLst/>
              </a:rPr>
              <a:t>de la lengua española</a:t>
            </a:r>
            <a:r>
              <a:rPr lang="es-SV" sz="1100" dirty="0" smtClean="0">
                <a:effectLst/>
              </a:rPr>
              <a:t>" (2010)</a:t>
            </a:r>
          </a:p>
          <a:p>
            <a:pPr marL="0" indent="0">
              <a:buNone/>
            </a:pPr>
            <a:r>
              <a:rPr lang="es-SV" sz="1100" dirty="0" smtClean="0">
                <a:effectLst/>
              </a:rPr>
              <a:t>Autor</a:t>
            </a:r>
            <a:r>
              <a:rPr lang="es-SV" sz="1100" dirty="0">
                <a:effectLst/>
              </a:rPr>
              <a:t>: Real Academia </a:t>
            </a:r>
            <a:r>
              <a:rPr lang="es-SV" sz="1100" dirty="0" smtClean="0">
                <a:effectLst/>
              </a:rPr>
              <a:t>Española. España, Editorial</a:t>
            </a:r>
            <a:r>
              <a:rPr lang="es-SV" sz="1100" dirty="0">
                <a:effectLst/>
              </a:rPr>
              <a:t>: </a:t>
            </a:r>
            <a:r>
              <a:rPr lang="es-SV" sz="1100" dirty="0" smtClean="0">
                <a:effectLst/>
              </a:rPr>
              <a:t>Espasa </a:t>
            </a:r>
          </a:p>
          <a:p>
            <a:pPr marL="0" indent="0">
              <a:buNone/>
            </a:pPr>
            <a:endParaRPr lang="es-SV" sz="1100" dirty="0" smtClean="0">
              <a:effectLst/>
            </a:endParaRPr>
          </a:p>
          <a:p>
            <a:pPr marL="0" indent="0">
              <a:buNone/>
            </a:pPr>
            <a:r>
              <a:rPr lang="es-SV" sz="1100" dirty="0" smtClean="0">
                <a:effectLst/>
              </a:rPr>
              <a:t>Aragón, Manuel (2019). "Ortografía </a:t>
            </a:r>
            <a:r>
              <a:rPr lang="es-SV" sz="1100" dirty="0">
                <a:effectLst/>
              </a:rPr>
              <a:t>y gramática para escritores y para </a:t>
            </a:r>
            <a:r>
              <a:rPr lang="es-SV" sz="1100" dirty="0" smtClean="0">
                <a:effectLst/>
              </a:rPr>
              <a:t>curiosos”. España, Grupo </a:t>
            </a:r>
            <a:r>
              <a:rPr lang="es-SV" sz="1100" dirty="0">
                <a:effectLst/>
              </a:rPr>
              <a:t>Anaya </a:t>
            </a:r>
            <a:r>
              <a:rPr lang="es-SV" sz="1100" dirty="0" smtClean="0">
                <a:effectLst/>
              </a:rPr>
              <a:t>Comercial</a:t>
            </a:r>
          </a:p>
          <a:p>
            <a:pPr marL="0" indent="0">
              <a:buNone/>
            </a:pPr>
            <a:endParaRPr lang="es-SV" sz="1100" dirty="0">
              <a:effectLst/>
            </a:endParaRPr>
          </a:p>
          <a:p>
            <a:pPr marL="0" indent="0">
              <a:buNone/>
            </a:pPr>
            <a:r>
              <a:rPr lang="es-SV" sz="1100" dirty="0" smtClean="0">
                <a:effectLst/>
              </a:rPr>
              <a:t>Martínez de Sousa, José (2017). "Manual </a:t>
            </a:r>
            <a:r>
              <a:rPr lang="es-SV" sz="1100" dirty="0">
                <a:effectLst/>
              </a:rPr>
              <a:t>de ortografía"</a:t>
            </a:r>
          </a:p>
          <a:p>
            <a:pPr marL="0" indent="0">
              <a:buNone/>
            </a:pPr>
            <a:r>
              <a:rPr lang="es-SV" sz="1100" dirty="0" smtClean="0">
                <a:effectLst/>
              </a:rPr>
              <a:t>España, Editorial Gredos.</a:t>
            </a:r>
            <a:endParaRPr lang="es-SV" sz="1100" dirty="0">
              <a:effectLst/>
            </a:endParaRPr>
          </a:p>
          <a:p>
            <a:pPr marL="0" indent="0">
              <a:buNone/>
            </a:pPr>
            <a:endParaRPr lang="es-SV" sz="1100" dirty="0">
              <a:effectLst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47278">
            <a:off x="732407" y="1252594"/>
            <a:ext cx="2953162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23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88</TotalTime>
  <Words>748</Words>
  <Application>Microsoft Office PowerPoint</Application>
  <PresentationFormat>Presentación en pantalla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USO CORRECTO DE LETRAS MAYÚSCULAS Y MINÚSCULAS</vt:lpstr>
      <vt:lpstr>Las reglas para el uso de letras mayúsculas y minúsculas son fundamentales en la escritura académica y profesional. a continuación, se presentan las pautas básicas: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CORRECTO DE LETRAS MAYÚSCULAS Y MINÚSCULAS</dc:title>
  <dc:creator>Seeligman Acevedo, Mercedes</dc:creator>
  <cp:lastModifiedBy>Seeligman Acevedo, Mercedes</cp:lastModifiedBy>
  <cp:revision>10</cp:revision>
  <dcterms:created xsi:type="dcterms:W3CDTF">2024-03-04T23:40:25Z</dcterms:created>
  <dcterms:modified xsi:type="dcterms:W3CDTF">2026-03-06T01:17:39Z</dcterms:modified>
</cp:coreProperties>
</file>